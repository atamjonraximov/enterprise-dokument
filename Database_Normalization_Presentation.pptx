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10"/>
  </p:notesMasterIdLst>
  <p:sldIdLst>
    <p:sldId id="256" r:id="rId2"/>
    <p:sldId id="257" r:id="rId3"/>
    <p:sldId id="263" r:id="rId4"/>
    <p:sldId id="265" r:id="rId5"/>
    <p:sldId id="264" r:id="rId6"/>
    <p:sldId id="266" r:id="rId7"/>
    <p:sldId id="267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BF137-CBB2-42D7-AB02-A3D9C15DAD0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0B625-2FBF-48A3-BA5E-BAA18C28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3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3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17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43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99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13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0B625-2FBF-48A3-BA5E-BAA18C2830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0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01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1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3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6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4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8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4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4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083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96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53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2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99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46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6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3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31" y="618518"/>
            <a:ext cx="8639643" cy="1596177"/>
          </a:xfrm>
        </p:spPr>
        <p:txBody>
          <a:bodyPr>
            <a:normAutofit/>
          </a:bodyPr>
          <a:lstStyle/>
          <a:p>
            <a:r>
              <a:rPr dirty="0"/>
              <a:t>Database Normalization (1NF, 2NF, 3NF)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86144"/>
            <a:ext cx="7773339" cy="4033706"/>
          </a:xfrm>
        </p:spPr>
        <p:txBody>
          <a:bodyPr>
            <a:normAutofit/>
          </a:bodyPr>
          <a:lstStyle/>
          <a:p>
            <a:r>
              <a:rPr lang="en-US" b="1" cap="none" dirty="0" err="1"/>
              <a:t>Umuman</a:t>
            </a:r>
            <a:r>
              <a:rPr lang="en-US" b="1" cap="none" dirty="0"/>
              <a:t> </a:t>
            </a:r>
            <a:r>
              <a:rPr lang="en-US" b="1" cap="none" dirty="0" err="1"/>
              <a:t>olganda</a:t>
            </a:r>
            <a:r>
              <a:rPr lang="en-US" b="1" cap="none" dirty="0"/>
              <a:t> normalization </a:t>
            </a:r>
            <a:r>
              <a:rPr lang="en-US" b="1" cap="none" dirty="0" err="1"/>
              <a:t>nima</a:t>
            </a:r>
            <a:r>
              <a:rPr lang="en-US" b="1" cap="none" dirty="0"/>
              <a:t>?</a:t>
            </a:r>
          </a:p>
          <a:p>
            <a:r>
              <a:rPr lang="en-US" b="1" cap="none" dirty="0"/>
              <a:t>Normalization</a:t>
            </a:r>
            <a:r>
              <a:rPr lang="en-US" cap="none" dirty="0"/>
              <a:t> - </a:t>
            </a:r>
            <a:r>
              <a:rPr lang="en-US" cap="none" dirty="0" err="1"/>
              <a:t>bu</a:t>
            </a:r>
            <a:r>
              <a:rPr lang="en-US" cap="none" dirty="0"/>
              <a:t> </a:t>
            </a:r>
            <a:r>
              <a:rPr lang="en-US" b="1" cap="none" dirty="0" err="1"/>
              <a:t>ma’lumotlarni</a:t>
            </a:r>
            <a:r>
              <a:rPr lang="en-US" b="1" cap="none" dirty="0"/>
              <a:t> </a:t>
            </a:r>
            <a:r>
              <a:rPr lang="en-US" b="1" cap="none" dirty="0" err="1"/>
              <a:t>bazada</a:t>
            </a:r>
            <a:r>
              <a:rPr lang="en-US" b="1" cap="none" dirty="0"/>
              <a:t> </a:t>
            </a:r>
            <a:r>
              <a:rPr lang="en-US" b="1" cap="none" dirty="0" err="1"/>
              <a:t>tartibli</a:t>
            </a:r>
            <a:r>
              <a:rPr lang="en-US" b="1" cap="none" dirty="0"/>
              <a:t> </a:t>
            </a:r>
            <a:r>
              <a:rPr lang="en-US" b="1" cap="none" dirty="0" err="1"/>
              <a:t>va</a:t>
            </a:r>
            <a:r>
              <a:rPr lang="en-US" b="1" cap="none" dirty="0"/>
              <a:t> </a:t>
            </a:r>
            <a:r>
              <a:rPr lang="en-US" b="1" cap="none" dirty="0" err="1"/>
              <a:t>takrorlanmas</a:t>
            </a:r>
            <a:r>
              <a:rPr lang="en-US" b="1" cap="none" dirty="0"/>
              <a:t> </a:t>
            </a:r>
            <a:r>
              <a:rPr lang="en-US" b="1" cap="none" dirty="0" err="1"/>
              <a:t>holatda</a:t>
            </a:r>
            <a:r>
              <a:rPr lang="en-US" b="1" cap="none" dirty="0"/>
              <a:t> </a:t>
            </a:r>
            <a:r>
              <a:rPr lang="en-US" b="1" cap="none" dirty="0" err="1"/>
              <a:t>saqlash</a:t>
            </a:r>
            <a:r>
              <a:rPr lang="en-US" cap="none" dirty="0"/>
              <a:t> </a:t>
            </a:r>
            <a:r>
              <a:rPr lang="en-US" cap="none" dirty="0" err="1"/>
              <a:t>jarayoni</a:t>
            </a:r>
            <a:r>
              <a:rPr lang="en-US" cap="none" dirty="0"/>
              <a:t>.</a:t>
            </a:r>
            <a:br>
              <a:rPr lang="en-US" cap="none" dirty="0"/>
            </a:br>
            <a:endParaRPr lang="en-US" cap="none" dirty="0"/>
          </a:p>
          <a:p>
            <a:pPr marL="0" indent="0">
              <a:buNone/>
            </a:pPr>
            <a:r>
              <a:rPr lang="en-US" cap="none" dirty="0"/>
              <a:t>			</a:t>
            </a:r>
            <a:r>
              <a:rPr lang="en-US" cap="none" dirty="0" err="1"/>
              <a:t>Ma’lum</a:t>
            </a:r>
            <a:r>
              <a:rPr lang="en-US" cap="none" dirty="0"/>
              <a:t> </a:t>
            </a:r>
            <a:r>
              <a:rPr lang="en-US" cap="none" dirty="0" err="1"/>
              <a:t>maqsadi</a:t>
            </a:r>
            <a:r>
              <a:rPr lang="en-US" cap="none" dirty="0"/>
              <a:t>:</a:t>
            </a:r>
          </a:p>
          <a:p>
            <a:r>
              <a:rPr lang="en-US" cap="none" dirty="0"/>
              <a:t> </a:t>
            </a:r>
            <a:r>
              <a:rPr lang="en-US" cap="none" dirty="0" err="1"/>
              <a:t>Ma’lumotlar</a:t>
            </a:r>
            <a:r>
              <a:rPr lang="en-US" cap="none" dirty="0"/>
              <a:t> </a:t>
            </a:r>
            <a:r>
              <a:rPr lang="en-US" b="1" cap="none" dirty="0" err="1"/>
              <a:t>takrorlanmaydi</a:t>
            </a:r>
            <a:r>
              <a:rPr lang="en-US" b="1" cap="none" dirty="0"/>
              <a:t> (redundancy </a:t>
            </a:r>
            <a:r>
              <a:rPr lang="en-US" b="1" cap="none" dirty="0" err="1"/>
              <a:t>kamayadi</a:t>
            </a:r>
            <a:r>
              <a:rPr lang="en-US" b="1" cap="none" dirty="0"/>
              <a:t>)</a:t>
            </a:r>
          </a:p>
          <a:p>
            <a:r>
              <a:rPr lang="en-US" cap="none" dirty="0"/>
              <a:t> </a:t>
            </a:r>
            <a:r>
              <a:rPr lang="en-US" cap="none" dirty="0" err="1"/>
              <a:t>Xatolar</a:t>
            </a:r>
            <a:r>
              <a:rPr lang="en-US" cap="none" dirty="0"/>
              <a:t> </a:t>
            </a:r>
            <a:r>
              <a:rPr lang="en-US" cap="none" dirty="0" err="1"/>
              <a:t>bo‘lmaydi</a:t>
            </a:r>
            <a:r>
              <a:rPr lang="en-US" cap="none" dirty="0"/>
              <a:t> (consistency </a:t>
            </a:r>
            <a:r>
              <a:rPr lang="en-US" cap="none" dirty="0" err="1"/>
              <a:t>oshadi</a:t>
            </a:r>
            <a:r>
              <a:rPr lang="en-US" cap="none" dirty="0"/>
              <a:t>)</a:t>
            </a:r>
          </a:p>
          <a:p>
            <a:r>
              <a:rPr lang="en-US" cap="none" dirty="0"/>
              <a:t> </a:t>
            </a:r>
            <a:r>
              <a:rPr lang="en-US" cap="none" dirty="0" err="1"/>
              <a:t>Bazani</a:t>
            </a:r>
            <a:r>
              <a:rPr lang="en-US" cap="none" dirty="0"/>
              <a:t> </a:t>
            </a:r>
            <a:r>
              <a:rPr lang="en-US" b="1" cap="none" dirty="0" err="1"/>
              <a:t>tahrirlash</a:t>
            </a:r>
            <a:r>
              <a:rPr lang="en-US" b="1" cap="none" dirty="0"/>
              <a:t>, </a:t>
            </a:r>
            <a:r>
              <a:rPr lang="en-US" b="1" cap="none" dirty="0" err="1"/>
              <a:t>o‘chirish</a:t>
            </a:r>
            <a:r>
              <a:rPr lang="en-US" b="1" cap="none" dirty="0"/>
              <a:t>, </a:t>
            </a:r>
            <a:r>
              <a:rPr lang="en-US" b="1" cap="none" dirty="0" err="1"/>
              <a:t>qo‘shish</a:t>
            </a:r>
            <a:r>
              <a:rPr lang="en-US" cap="none" dirty="0"/>
              <a:t> </a:t>
            </a:r>
            <a:r>
              <a:rPr lang="en-US" cap="none" dirty="0" err="1"/>
              <a:t>oson</a:t>
            </a:r>
            <a:r>
              <a:rPr lang="en-US" cap="none" dirty="0"/>
              <a:t> </a:t>
            </a:r>
            <a:r>
              <a:rPr lang="en-US" cap="none" dirty="0" err="1"/>
              <a:t>bo‘ladi</a:t>
            </a:r>
            <a:r>
              <a:rPr lang="en-US" cap="none"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38DACF0B-1F8F-459B-BFE3-941EF776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28203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53" y="686375"/>
            <a:ext cx="8887293" cy="1433645"/>
          </a:xfrm>
        </p:spPr>
        <p:txBody>
          <a:bodyPr/>
          <a:lstStyle/>
          <a:p>
            <a:r>
              <a:rPr lang="en-US" cap="none" dirty="0"/>
              <a:t>1NF (first normal form) – </a:t>
            </a:r>
            <a:r>
              <a:rPr lang="en-US" cap="none" dirty="0" err="1"/>
              <a:t>birinchi</a:t>
            </a:r>
            <a:r>
              <a:rPr lang="en-US" cap="none" dirty="0"/>
              <a:t> normal 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876425"/>
            <a:ext cx="7773339" cy="4363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cap="none" dirty="0"/>
              <a:t>			          </a:t>
            </a:r>
            <a:r>
              <a:rPr lang="en-US" cap="none" dirty="0" err="1"/>
              <a:t>Shartlar</a:t>
            </a:r>
            <a:r>
              <a:rPr lang="en-US" cap="none" dirty="0"/>
              <a:t>:</a:t>
            </a:r>
          </a:p>
          <a:p>
            <a:r>
              <a:rPr lang="en-US" cap="none" dirty="0"/>
              <a:t>Har </a:t>
            </a:r>
            <a:r>
              <a:rPr lang="en-US" cap="none" dirty="0" err="1"/>
              <a:t>bir</a:t>
            </a:r>
            <a:r>
              <a:rPr lang="en-US" cap="none" dirty="0"/>
              <a:t> </a:t>
            </a:r>
            <a:r>
              <a:rPr lang="en-US" cap="none" dirty="0" err="1"/>
              <a:t>ustunda</a:t>
            </a:r>
            <a:r>
              <a:rPr lang="en-US" cap="none" dirty="0"/>
              <a:t> </a:t>
            </a:r>
            <a:r>
              <a:rPr lang="en-US" b="1" cap="none" dirty="0" err="1"/>
              <a:t>faqat</a:t>
            </a:r>
            <a:r>
              <a:rPr lang="en-US" b="1" cap="none" dirty="0"/>
              <a:t> </a:t>
            </a:r>
            <a:r>
              <a:rPr lang="en-US" b="1" cap="none" dirty="0" err="1"/>
              <a:t>bitta</a:t>
            </a:r>
            <a:r>
              <a:rPr lang="en-US" b="1" cap="none" dirty="0"/>
              <a:t> </a:t>
            </a:r>
            <a:r>
              <a:rPr lang="en-US" b="1" cap="none" dirty="0" err="1"/>
              <a:t>qiymat</a:t>
            </a:r>
            <a:r>
              <a:rPr lang="en-US" cap="none" dirty="0"/>
              <a:t> </a:t>
            </a:r>
            <a:r>
              <a:rPr lang="en-US" cap="none" dirty="0" err="1"/>
              <a:t>bo‘lishi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 (</a:t>
            </a:r>
            <a:r>
              <a:rPr lang="en-US" cap="none" dirty="0" err="1"/>
              <a:t>ya’ni</a:t>
            </a:r>
            <a:r>
              <a:rPr lang="en-US" cap="none" dirty="0"/>
              <a:t>, </a:t>
            </a:r>
            <a:r>
              <a:rPr lang="en-US" i="1" cap="none" dirty="0"/>
              <a:t>no repeating groups</a:t>
            </a:r>
            <a:r>
              <a:rPr lang="en-US" cap="none" dirty="0"/>
              <a:t>).</a:t>
            </a:r>
          </a:p>
          <a:p>
            <a:r>
              <a:rPr lang="en-US" cap="none" dirty="0" err="1"/>
              <a:t>Jadvalda</a:t>
            </a:r>
            <a:r>
              <a:rPr lang="en-US" cap="none" dirty="0"/>
              <a:t> </a:t>
            </a:r>
            <a:r>
              <a:rPr lang="en-US" b="1" cap="none" dirty="0" err="1"/>
              <a:t>takrorlanuvchi</a:t>
            </a:r>
            <a:r>
              <a:rPr lang="en-US" b="1" cap="none" dirty="0"/>
              <a:t> </a:t>
            </a:r>
            <a:r>
              <a:rPr lang="en-US" b="1" cap="none" dirty="0" err="1"/>
              <a:t>ustunlar</a:t>
            </a:r>
            <a:r>
              <a:rPr lang="en-US" cap="none" dirty="0"/>
              <a:t> </a:t>
            </a:r>
            <a:r>
              <a:rPr lang="en-US" cap="none" dirty="0" err="1"/>
              <a:t>bo‘lmasligi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.</a:t>
            </a:r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E776A9-236E-4BCD-BDE1-0849345E0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284006"/>
              </p:ext>
            </p:extLst>
          </p:nvPr>
        </p:nvGraphicFramePr>
        <p:xfrm>
          <a:off x="809624" y="4000877"/>
          <a:ext cx="7524750" cy="1097280"/>
        </p:xfrm>
        <a:graphic>
          <a:graphicData uri="http://schemas.openxmlformats.org/drawingml/2006/table">
            <a:tbl>
              <a:tblPr/>
              <a:tblGrid>
                <a:gridCol w="2508250">
                  <a:extLst>
                    <a:ext uri="{9D8B030D-6E8A-4147-A177-3AD203B41FA5}">
                      <a16:colId xmlns:a16="http://schemas.microsoft.com/office/drawing/2014/main" val="3099076471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2613003007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3003372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41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Math, 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97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Laylo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English, 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4074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6C363D-F3A1-4583-AA2F-148691CBA7B3}"/>
              </a:ext>
            </a:extLst>
          </p:cNvPr>
          <p:cNvSpPr txBox="1"/>
          <p:nvPr/>
        </p:nvSpPr>
        <p:spPr>
          <a:xfrm>
            <a:off x="714844" y="5619479"/>
            <a:ext cx="7619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 </a:t>
            </a:r>
            <a:r>
              <a:rPr lang="en-US" dirty="0" err="1"/>
              <a:t>jadval</a:t>
            </a:r>
            <a:r>
              <a:rPr lang="en-US" dirty="0"/>
              <a:t> </a:t>
            </a:r>
            <a:r>
              <a:rPr lang="en-US" b="1" dirty="0"/>
              <a:t>1NF </a:t>
            </a:r>
            <a:r>
              <a:rPr lang="en-US" b="1" dirty="0" err="1"/>
              <a:t>emas</a:t>
            </a:r>
            <a:r>
              <a:rPr lang="en-US" dirty="0"/>
              <a:t>, </a:t>
            </a:r>
            <a:r>
              <a:rPr lang="en-US" dirty="0" err="1"/>
              <a:t>chunki</a:t>
            </a:r>
            <a:r>
              <a:rPr lang="en-US" dirty="0"/>
              <a:t> “subjects” </a:t>
            </a:r>
            <a:r>
              <a:rPr lang="en-US" dirty="0" err="1"/>
              <a:t>ustunida</a:t>
            </a:r>
            <a:r>
              <a:rPr lang="en-US" dirty="0"/>
              <a:t> </a:t>
            </a:r>
            <a:r>
              <a:rPr lang="en-US" b="1" dirty="0" err="1"/>
              <a:t>bitta</a:t>
            </a:r>
            <a:r>
              <a:rPr lang="en-US" b="1" dirty="0"/>
              <a:t> </a:t>
            </a:r>
            <a:r>
              <a:rPr lang="en-US" b="1" dirty="0" err="1"/>
              <a:t>katakda</a:t>
            </a:r>
            <a:r>
              <a:rPr lang="en-US" b="1" dirty="0"/>
              <a:t> 2ta fan</a:t>
            </a:r>
            <a:r>
              <a:rPr lang="en-US" dirty="0"/>
              <a:t> bor.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noto‘g‘ri</a:t>
            </a:r>
            <a:r>
              <a:rPr lang="en-US" dirty="0"/>
              <a:t>.</a:t>
            </a:r>
          </a:p>
        </p:txBody>
      </p:sp>
      <p:pic>
        <p:nvPicPr>
          <p:cNvPr id="10" name="Picture 2" descr="PDP University - YouTube">
            <a:extLst>
              <a:ext uri="{FF2B5EF4-FFF2-40B4-BE49-F238E27FC236}">
                <a16:creationId xmlns:a16="http://schemas.microsoft.com/office/drawing/2014/main" id="{E8BE78BD-619A-48B9-B5AC-49E00EBB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618518"/>
            <a:ext cx="7305675" cy="1596177"/>
          </a:xfrm>
        </p:spPr>
        <p:txBody>
          <a:bodyPr/>
          <a:lstStyle/>
          <a:p>
            <a:r>
              <a:rPr lang="en-US" cap="none" dirty="0" err="1"/>
              <a:t>To‘g‘rilaymiz</a:t>
            </a:r>
            <a:r>
              <a:rPr lang="en-US" cap="none" dirty="0"/>
              <a:t> (1NF </a:t>
            </a:r>
            <a:r>
              <a:rPr lang="en-US" cap="none" dirty="0" err="1"/>
              <a:t>holatiga</a:t>
            </a:r>
            <a:r>
              <a:rPr lang="en-US" cap="none" dirty="0"/>
              <a:t> </a:t>
            </a:r>
            <a:r>
              <a:rPr lang="en-US" cap="none" dirty="0" err="1"/>
              <a:t>keltiramiz</a:t>
            </a:r>
            <a:r>
              <a:rPr lang="en-US" cap="none" dirty="0"/>
              <a:t>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B97F7A-501E-4E83-9EC7-6ED6CD968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78266"/>
              </p:ext>
            </p:extLst>
          </p:nvPr>
        </p:nvGraphicFramePr>
        <p:xfrm>
          <a:off x="1047751" y="2514600"/>
          <a:ext cx="7229475" cy="1828800"/>
        </p:xfrm>
        <a:graphic>
          <a:graphicData uri="http://schemas.openxmlformats.org/drawingml/2006/table">
            <a:tbl>
              <a:tblPr/>
              <a:tblGrid>
                <a:gridCol w="2409825">
                  <a:extLst>
                    <a:ext uri="{9D8B030D-6E8A-4147-A177-3AD203B41FA5}">
                      <a16:colId xmlns:a16="http://schemas.microsoft.com/office/drawing/2014/main" val="1994283513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3573523858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4008982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29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830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04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Laylo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84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Laylo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1237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10A0B0F-C540-4067-A55D-3B32D2B82961}"/>
              </a:ext>
            </a:extLst>
          </p:cNvPr>
          <p:cNvSpPr txBox="1"/>
          <p:nvPr/>
        </p:nvSpPr>
        <p:spPr>
          <a:xfrm>
            <a:off x="1047750" y="5308625"/>
            <a:ext cx="7229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katakda</a:t>
            </a:r>
            <a:r>
              <a:rPr lang="en-US" dirty="0"/>
              <a:t> </a:t>
            </a:r>
            <a:r>
              <a:rPr lang="en-US" b="1" dirty="0" err="1"/>
              <a:t>faqat</a:t>
            </a:r>
            <a:r>
              <a:rPr lang="en-US" b="1" dirty="0"/>
              <a:t> </a:t>
            </a:r>
            <a:r>
              <a:rPr lang="en-US" b="1" dirty="0" err="1"/>
              <a:t>bitta</a:t>
            </a:r>
            <a:r>
              <a:rPr lang="en-US" b="1" dirty="0"/>
              <a:t> </a:t>
            </a:r>
            <a:r>
              <a:rPr lang="en-US" b="1" dirty="0" err="1"/>
              <a:t>qiymat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 →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b="1" dirty="0"/>
              <a:t>1NF</a:t>
            </a:r>
            <a:r>
              <a:rPr lang="en-US" dirty="0"/>
              <a:t>.</a:t>
            </a:r>
          </a:p>
        </p:txBody>
      </p:sp>
      <p:pic>
        <p:nvPicPr>
          <p:cNvPr id="11" name="Picture 2" descr="PDP University - YouTube">
            <a:extLst>
              <a:ext uri="{FF2B5EF4-FFF2-40B4-BE49-F238E27FC236}">
                <a16:creationId xmlns:a16="http://schemas.microsoft.com/office/drawing/2014/main" id="{5058F5B5-B302-4813-8135-3F204AA9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-3810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01087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62" y="341976"/>
            <a:ext cx="9267357" cy="1258212"/>
          </a:xfrm>
        </p:spPr>
        <p:txBody>
          <a:bodyPr>
            <a:normAutofit/>
          </a:bodyPr>
          <a:lstStyle/>
          <a:p>
            <a:r>
              <a:rPr lang="en-US" sz="2800" cap="none" dirty="0"/>
              <a:t>2NF (second normal form) – </a:t>
            </a:r>
            <a:r>
              <a:rPr lang="en-US" sz="2800" cap="none" dirty="0" err="1"/>
              <a:t>ikkinchi</a:t>
            </a:r>
            <a:r>
              <a:rPr lang="en-US" sz="2800" cap="none" dirty="0"/>
              <a:t> normal 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291246"/>
            <a:ext cx="7792391" cy="2261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cap="none" dirty="0"/>
              <a:t>			          </a:t>
            </a:r>
            <a:r>
              <a:rPr lang="en-US" cap="none" dirty="0" err="1"/>
              <a:t>Shartlar</a:t>
            </a:r>
            <a:r>
              <a:rPr lang="en-US" cap="none" dirty="0"/>
              <a:t>:</a:t>
            </a:r>
          </a:p>
          <a:p>
            <a:r>
              <a:rPr lang="en-US" cap="none" dirty="0" err="1"/>
              <a:t>Jadval</a:t>
            </a:r>
            <a:r>
              <a:rPr lang="en-US" cap="none" dirty="0"/>
              <a:t> </a:t>
            </a:r>
            <a:r>
              <a:rPr lang="en-US" cap="none" dirty="0" err="1"/>
              <a:t>allaqachon</a:t>
            </a:r>
            <a:r>
              <a:rPr lang="en-US" cap="none" dirty="0"/>
              <a:t> </a:t>
            </a:r>
            <a:r>
              <a:rPr lang="en-US" b="1" cap="none" dirty="0"/>
              <a:t>1NF</a:t>
            </a:r>
            <a:r>
              <a:rPr lang="en-US" cap="none" dirty="0"/>
              <a:t> </a:t>
            </a:r>
            <a:r>
              <a:rPr lang="en-US" cap="none" dirty="0" err="1"/>
              <a:t>bo‘lishi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. </a:t>
            </a:r>
            <a:r>
              <a:rPr lang="en-US" cap="none" dirty="0" err="1"/>
              <a:t>Jadvalda</a:t>
            </a:r>
            <a:r>
              <a:rPr lang="en-US" cap="none" dirty="0"/>
              <a:t> </a:t>
            </a:r>
            <a:r>
              <a:rPr lang="en-US" b="1" cap="none" dirty="0" err="1"/>
              <a:t>takrorlanuvchi</a:t>
            </a:r>
            <a:r>
              <a:rPr lang="en-US" b="1" cap="none" dirty="0"/>
              <a:t> </a:t>
            </a:r>
            <a:r>
              <a:rPr lang="en-US" b="1" cap="none" dirty="0" err="1"/>
              <a:t>ustunlar</a:t>
            </a:r>
            <a:r>
              <a:rPr lang="en-US" cap="none" dirty="0"/>
              <a:t> </a:t>
            </a:r>
            <a:r>
              <a:rPr lang="en-US" cap="none" dirty="0" err="1"/>
              <a:t>bo‘lmasligi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.</a:t>
            </a:r>
          </a:p>
          <a:p>
            <a:r>
              <a:rPr lang="en-US" b="1" cap="none" dirty="0"/>
              <a:t>Har </a:t>
            </a:r>
            <a:r>
              <a:rPr lang="en-US" b="1" cap="none" dirty="0" err="1"/>
              <a:t>bir</a:t>
            </a:r>
            <a:r>
              <a:rPr lang="en-US" b="1" cap="none" dirty="0"/>
              <a:t> non-key attribute</a:t>
            </a:r>
            <a:r>
              <a:rPr lang="en-US" cap="none" dirty="0"/>
              <a:t> (</a:t>
            </a:r>
            <a:r>
              <a:rPr lang="en-US" cap="none" dirty="0" err="1"/>
              <a:t>ya’ni</a:t>
            </a:r>
            <a:r>
              <a:rPr lang="en-US" cap="none" dirty="0"/>
              <a:t> </a:t>
            </a:r>
            <a:r>
              <a:rPr lang="en-US" cap="none" dirty="0" err="1"/>
              <a:t>asosiy</a:t>
            </a:r>
            <a:r>
              <a:rPr lang="en-US" cap="none" dirty="0"/>
              <a:t> </a:t>
            </a:r>
            <a:r>
              <a:rPr lang="en-US" cap="none" dirty="0" err="1"/>
              <a:t>kalit</a:t>
            </a:r>
            <a:r>
              <a:rPr lang="en-US" cap="none" dirty="0"/>
              <a:t> </a:t>
            </a:r>
            <a:r>
              <a:rPr lang="en-US" cap="none" dirty="0" err="1"/>
              <a:t>bo‘lmagan</a:t>
            </a:r>
            <a:r>
              <a:rPr lang="en-US" cap="none" dirty="0"/>
              <a:t> </a:t>
            </a:r>
            <a:r>
              <a:rPr lang="en-US" cap="none" dirty="0" err="1"/>
              <a:t>ustun</a:t>
            </a:r>
            <a:r>
              <a:rPr lang="en-US" cap="none" dirty="0"/>
              <a:t>) </a:t>
            </a:r>
            <a:r>
              <a:rPr lang="en-US" b="1" cap="none" dirty="0" err="1"/>
              <a:t>butun</a:t>
            </a:r>
            <a:r>
              <a:rPr lang="en-US" b="1" cap="none" dirty="0"/>
              <a:t> </a:t>
            </a:r>
            <a:r>
              <a:rPr lang="en-US" b="1" cap="none" dirty="0" err="1"/>
              <a:t>asosiy</a:t>
            </a:r>
            <a:r>
              <a:rPr lang="en-US" b="1" cap="none" dirty="0"/>
              <a:t> </a:t>
            </a:r>
            <a:r>
              <a:rPr lang="en-US" b="1" cap="none" dirty="0" err="1"/>
              <a:t>kalitga</a:t>
            </a:r>
            <a:r>
              <a:rPr lang="en-US" cap="none" dirty="0"/>
              <a:t> </a:t>
            </a:r>
            <a:r>
              <a:rPr lang="en-US" cap="none" dirty="0" err="1"/>
              <a:t>bog‘liq</a:t>
            </a:r>
            <a:r>
              <a:rPr lang="en-US" cap="none" dirty="0"/>
              <a:t> </a:t>
            </a:r>
            <a:r>
              <a:rPr lang="en-US" cap="none" dirty="0" err="1"/>
              <a:t>bo‘lishi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, </a:t>
            </a:r>
            <a:r>
              <a:rPr lang="en-US" cap="none" dirty="0" err="1"/>
              <a:t>faqat</a:t>
            </a:r>
            <a:r>
              <a:rPr lang="en-US" cap="none" dirty="0"/>
              <a:t> </a:t>
            </a:r>
            <a:r>
              <a:rPr lang="en-US" cap="none" dirty="0" err="1"/>
              <a:t>bir</a:t>
            </a:r>
            <a:r>
              <a:rPr lang="en-US" cap="none" dirty="0"/>
              <a:t> </a:t>
            </a:r>
            <a:r>
              <a:rPr lang="en-US" cap="none" dirty="0" err="1"/>
              <a:t>qismiga</a:t>
            </a:r>
            <a:r>
              <a:rPr lang="en-US" cap="none" dirty="0"/>
              <a:t> </a:t>
            </a:r>
            <a:r>
              <a:rPr lang="en-US" cap="none" dirty="0" err="1"/>
              <a:t>emas</a:t>
            </a:r>
            <a:r>
              <a:rPr lang="en-US" cap="none" dirty="0"/>
              <a:t>.</a:t>
            </a:r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B3868E-FD8E-400A-B713-CF71CAF1E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92265"/>
              </p:ext>
            </p:extLst>
          </p:nvPr>
        </p:nvGraphicFramePr>
        <p:xfrm>
          <a:off x="952501" y="3793966"/>
          <a:ext cx="7525221" cy="1097280"/>
        </p:xfrm>
        <a:graphic>
          <a:graphicData uri="http://schemas.openxmlformats.org/drawingml/2006/table">
            <a:tbl>
              <a:tblPr/>
              <a:tblGrid>
                <a:gridCol w="2508407">
                  <a:extLst>
                    <a:ext uri="{9D8B030D-6E8A-4147-A177-3AD203B41FA5}">
                      <a16:colId xmlns:a16="http://schemas.microsoft.com/office/drawing/2014/main" val="1572410392"/>
                    </a:ext>
                  </a:extLst>
                </a:gridCol>
                <a:gridCol w="2508407">
                  <a:extLst>
                    <a:ext uri="{9D8B030D-6E8A-4147-A177-3AD203B41FA5}">
                      <a16:colId xmlns:a16="http://schemas.microsoft.com/office/drawing/2014/main" val="120477109"/>
                    </a:ext>
                  </a:extLst>
                </a:gridCol>
                <a:gridCol w="2508407">
                  <a:extLst>
                    <a:ext uri="{9D8B030D-6E8A-4147-A177-3AD203B41FA5}">
                      <a16:colId xmlns:a16="http://schemas.microsoft.com/office/drawing/2014/main" val="2126492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TeacherName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2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260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Anna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02776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AC2F27E-8D90-433E-81B2-13E333D27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5151588"/>
            <a:ext cx="738710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yerda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asosiy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subject)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faqat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bog‘liq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2NF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2" descr="PDP University - YouTube">
            <a:extLst>
              <a:ext uri="{FF2B5EF4-FFF2-40B4-BE49-F238E27FC236}">
                <a16:creationId xmlns:a16="http://schemas.microsoft.com/office/drawing/2014/main" id="{CAD57966-40F8-4824-B34D-71DD6DEEA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8110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425" y="115746"/>
            <a:ext cx="7305675" cy="1596177"/>
          </a:xfrm>
        </p:spPr>
        <p:txBody>
          <a:bodyPr/>
          <a:lstStyle/>
          <a:p>
            <a:r>
              <a:rPr lang="pl-PL" cap="none" dirty="0"/>
              <a:t>To‘g‘rilaymiz (2NF</a:t>
            </a:r>
            <a:r>
              <a:rPr lang="en-US" cap="none" dirty="0"/>
              <a:t> ga </a:t>
            </a:r>
            <a:r>
              <a:rPr lang="pl-PL" cap="none" dirty="0"/>
              <a:t>bo‘lamiz):</a:t>
            </a:r>
            <a:endParaRPr lang="en-US" cap="non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78CBF5-D19A-4CDE-A9E3-68F863951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559718"/>
              </p:ext>
            </p:extLst>
          </p:nvPr>
        </p:nvGraphicFramePr>
        <p:xfrm>
          <a:off x="1085849" y="2018134"/>
          <a:ext cx="7724776" cy="10972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738423766"/>
                    </a:ext>
                  </a:extLst>
                </a:gridCol>
                <a:gridCol w="3838576">
                  <a:extLst>
                    <a:ext uri="{9D8B030D-6E8A-4147-A177-3AD203B41FA5}">
                      <a16:colId xmlns:a16="http://schemas.microsoft.com/office/drawing/2014/main" val="113729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98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207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2801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8381B6-FE09-49EF-9F8C-449ED45659CE}"/>
              </a:ext>
            </a:extLst>
          </p:cNvPr>
          <p:cNvSpPr txBox="1"/>
          <p:nvPr/>
        </p:nvSpPr>
        <p:spPr>
          <a:xfrm>
            <a:off x="595544" y="16169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Studentsubject</a:t>
            </a:r>
            <a:r>
              <a:rPr lang="en-US" dirty="0"/>
              <a:t> (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jadval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BD057-96A6-4FC3-872C-BB95DFDBEA94}"/>
              </a:ext>
            </a:extLst>
          </p:cNvPr>
          <p:cNvSpPr txBox="1"/>
          <p:nvPr/>
        </p:nvSpPr>
        <p:spPr>
          <a:xfrm>
            <a:off x="595544" y="35431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Subjectteacher</a:t>
            </a:r>
            <a:r>
              <a:rPr lang="en-US" dirty="0"/>
              <a:t> (</a:t>
            </a:r>
            <a:r>
              <a:rPr lang="en-US" dirty="0" err="1"/>
              <a:t>bog‘liq</a:t>
            </a:r>
            <a:r>
              <a:rPr lang="en-US" dirty="0"/>
              <a:t> </a:t>
            </a:r>
            <a:r>
              <a:rPr lang="en-US" dirty="0" err="1"/>
              <a:t>jadval</a:t>
            </a:r>
            <a:r>
              <a:rPr lang="en-US" dirty="0"/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CCDD12-8513-4A91-81E4-4CBA287C3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50626"/>
              </p:ext>
            </p:extLst>
          </p:nvPr>
        </p:nvGraphicFramePr>
        <p:xfrm>
          <a:off x="1085849" y="3912486"/>
          <a:ext cx="7772400" cy="10972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53016443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420230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TeacherName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Mr. Smith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10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Anna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3009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A29BD21-F970-474B-95F2-BCD06C0A0837}"/>
              </a:ext>
            </a:extLst>
          </p:cNvPr>
          <p:cNvSpPr txBox="1"/>
          <p:nvPr/>
        </p:nvSpPr>
        <p:spPr>
          <a:xfrm>
            <a:off x="595544" y="5499998"/>
            <a:ext cx="8262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non-key attribute (</a:t>
            </a:r>
            <a:r>
              <a:rPr lang="en-US" dirty="0" err="1"/>
              <a:t>teachername</a:t>
            </a:r>
            <a:r>
              <a:rPr lang="en-US" dirty="0"/>
              <a:t>)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b="1" dirty="0" err="1"/>
              <a:t>kalitga</a:t>
            </a:r>
            <a:r>
              <a:rPr lang="en-US" b="1" dirty="0"/>
              <a:t> </a:t>
            </a:r>
            <a:r>
              <a:rPr lang="en-US" b="1" dirty="0" err="1"/>
              <a:t>to‘liq</a:t>
            </a:r>
            <a:r>
              <a:rPr lang="en-US" b="1" dirty="0"/>
              <a:t> </a:t>
            </a:r>
            <a:r>
              <a:rPr lang="en-US" b="1" dirty="0" err="1"/>
              <a:t>bog‘liq</a:t>
            </a:r>
            <a:r>
              <a:rPr lang="en-US" dirty="0"/>
              <a:t> →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b="1" dirty="0"/>
              <a:t>2NF</a:t>
            </a:r>
            <a:r>
              <a:rPr lang="en-US" dirty="0"/>
              <a:t>.</a:t>
            </a:r>
          </a:p>
        </p:txBody>
      </p:sp>
      <p:pic>
        <p:nvPicPr>
          <p:cNvPr id="13" name="Picture 2" descr="PDP University - YouTube">
            <a:extLst>
              <a:ext uri="{FF2B5EF4-FFF2-40B4-BE49-F238E27FC236}">
                <a16:creationId xmlns:a16="http://schemas.microsoft.com/office/drawing/2014/main" id="{B588A8E9-9377-42C5-8615-C72F52E2D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" y="1504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445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05" y="94644"/>
            <a:ext cx="7792390" cy="1267432"/>
          </a:xfrm>
        </p:spPr>
        <p:txBody>
          <a:bodyPr>
            <a:normAutofit/>
          </a:bodyPr>
          <a:lstStyle/>
          <a:p>
            <a:r>
              <a:rPr lang="en-US" sz="2400" cap="none" dirty="0"/>
              <a:t>3NF (third normal form) – </a:t>
            </a:r>
            <a:r>
              <a:rPr lang="en-US" sz="2400" cap="none" dirty="0" err="1"/>
              <a:t>uchinchi</a:t>
            </a:r>
            <a:r>
              <a:rPr lang="en-US" sz="2400" cap="none" dirty="0"/>
              <a:t> normal 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176946"/>
            <a:ext cx="7792391" cy="21569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cap="none" dirty="0"/>
              <a:t>			          </a:t>
            </a:r>
            <a:r>
              <a:rPr lang="en-US" cap="none" dirty="0" err="1"/>
              <a:t>Shartlar</a:t>
            </a:r>
            <a:r>
              <a:rPr lang="en-US" cap="none" dirty="0"/>
              <a:t>:</a:t>
            </a:r>
          </a:p>
          <a:p>
            <a:r>
              <a:rPr lang="da-DK" cap="none" dirty="0"/>
              <a:t>Jadval </a:t>
            </a:r>
            <a:r>
              <a:rPr lang="da-DK" b="1" cap="none" dirty="0"/>
              <a:t>2NF</a:t>
            </a:r>
            <a:r>
              <a:rPr lang="da-DK" cap="none" dirty="0"/>
              <a:t> bo‘lishi kerak.</a:t>
            </a:r>
          </a:p>
          <a:p>
            <a:r>
              <a:rPr lang="en-US" cap="none" dirty="0" err="1"/>
              <a:t>Hech</a:t>
            </a:r>
            <a:r>
              <a:rPr lang="en-US" cap="none" dirty="0"/>
              <a:t> </a:t>
            </a:r>
            <a:r>
              <a:rPr lang="en-US" cap="none" dirty="0" err="1"/>
              <a:t>bir</a:t>
            </a:r>
            <a:r>
              <a:rPr lang="en-US" cap="none" dirty="0"/>
              <a:t> non-key attribute </a:t>
            </a:r>
            <a:r>
              <a:rPr lang="en-US" b="1" cap="none" dirty="0" err="1"/>
              <a:t>boshqa</a:t>
            </a:r>
            <a:r>
              <a:rPr lang="en-US" b="1" cap="none" dirty="0"/>
              <a:t> non-key attribute</a:t>
            </a:r>
            <a:r>
              <a:rPr lang="en-US" cap="none" dirty="0"/>
              <a:t> ga </a:t>
            </a:r>
            <a:r>
              <a:rPr lang="en-US" cap="none" dirty="0" err="1"/>
              <a:t>bog‘liq</a:t>
            </a:r>
            <a:r>
              <a:rPr lang="en-US" cap="none" dirty="0"/>
              <a:t> </a:t>
            </a:r>
            <a:r>
              <a:rPr lang="en-US" cap="none" dirty="0" err="1"/>
              <a:t>bo‘lmasligi</a:t>
            </a:r>
            <a:r>
              <a:rPr lang="en-US" cap="none" dirty="0"/>
              <a:t> </a:t>
            </a:r>
            <a:r>
              <a:rPr lang="en-US" cap="none" dirty="0" err="1"/>
              <a:t>kerak</a:t>
            </a:r>
            <a:r>
              <a:rPr lang="en-US" cap="none" dirty="0"/>
              <a:t>.</a:t>
            </a:r>
            <a:br>
              <a:rPr lang="en-US" cap="none" dirty="0"/>
            </a:br>
            <a:r>
              <a:rPr lang="en-US" cap="none" dirty="0" err="1"/>
              <a:t>Ya’ni</a:t>
            </a:r>
            <a:r>
              <a:rPr lang="en-US" cap="none" dirty="0"/>
              <a:t>, </a:t>
            </a:r>
            <a:r>
              <a:rPr lang="en-US" b="1" cap="none" dirty="0"/>
              <a:t>transitive dependency</a:t>
            </a:r>
            <a:r>
              <a:rPr lang="en-US" cap="none" dirty="0"/>
              <a:t> </a:t>
            </a:r>
            <a:r>
              <a:rPr lang="en-US" cap="none" dirty="0" err="1"/>
              <a:t>bo‘lmasin</a:t>
            </a:r>
            <a:r>
              <a:rPr lang="en-US" cap="none" dirty="0"/>
              <a:t>. </a:t>
            </a:r>
            <a:r>
              <a:rPr lang="en-US" cap="none" dirty="0" err="1"/>
              <a:t>Kalit</a:t>
            </a:r>
            <a:r>
              <a:rPr lang="en-US" cap="none" dirty="0"/>
              <a:t> → </a:t>
            </a:r>
            <a:r>
              <a:rPr lang="en-US" cap="none" dirty="0" err="1"/>
              <a:t>boshqa</a:t>
            </a:r>
            <a:r>
              <a:rPr lang="en-US" cap="none" dirty="0"/>
              <a:t> </a:t>
            </a:r>
            <a:r>
              <a:rPr lang="en-US" cap="none" dirty="0" err="1"/>
              <a:t>ustun</a:t>
            </a:r>
            <a:r>
              <a:rPr lang="en-US" cap="none" dirty="0"/>
              <a:t> → </a:t>
            </a:r>
            <a:r>
              <a:rPr lang="en-US" cap="none" dirty="0" err="1"/>
              <a:t>yana</a:t>
            </a:r>
            <a:r>
              <a:rPr lang="en-US" cap="none" dirty="0"/>
              <a:t> </a:t>
            </a:r>
            <a:r>
              <a:rPr lang="en-US" cap="none" dirty="0" err="1"/>
              <a:t>boshqa</a:t>
            </a:r>
            <a:r>
              <a:rPr lang="en-US" cap="none" dirty="0"/>
              <a:t> </a:t>
            </a:r>
            <a:r>
              <a:rPr lang="en-US" cap="none" dirty="0" err="1"/>
              <a:t>ustun</a:t>
            </a:r>
            <a:r>
              <a:rPr lang="en-US" cap="none" dirty="0"/>
              <a:t> </a:t>
            </a:r>
            <a:r>
              <a:rPr lang="en-US" cap="none" dirty="0" err="1"/>
              <a:t>bo‘lmasin</a:t>
            </a:r>
            <a:r>
              <a:rPr lang="en-US" cap="none" dirty="0"/>
              <a:t>.</a:t>
            </a:r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8CF30F-118C-46BD-811A-D862233E1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976275"/>
              </p:ext>
            </p:extLst>
          </p:nvPr>
        </p:nvGraphicFramePr>
        <p:xfrm>
          <a:off x="685800" y="3429000"/>
          <a:ext cx="7772400" cy="109728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194895465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62427611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09188861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239374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DepartmentID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DepartmentName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2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Sci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38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Laylo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7060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3B70C4-ABCA-421F-BB67-83441B80D181}"/>
              </a:ext>
            </a:extLst>
          </p:cNvPr>
          <p:cNvSpPr txBox="1"/>
          <p:nvPr/>
        </p:nvSpPr>
        <p:spPr>
          <a:xfrm>
            <a:off x="685800" y="4621387"/>
            <a:ext cx="4877270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 </a:t>
            </a:r>
            <a:r>
              <a:rPr lang="en-US" dirty="0" err="1"/>
              <a:t>jadval</a:t>
            </a:r>
            <a:r>
              <a:rPr lang="en-US" dirty="0"/>
              <a:t> </a:t>
            </a:r>
            <a:r>
              <a:rPr lang="en-US" b="1" dirty="0"/>
              <a:t>2nf</a:t>
            </a:r>
            <a:r>
              <a:rPr lang="en-US" dirty="0"/>
              <a:t>da,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b="1" dirty="0"/>
              <a:t>3NF </a:t>
            </a:r>
            <a:r>
              <a:rPr lang="en-US" b="1" dirty="0" err="1"/>
              <a:t>emas</a:t>
            </a:r>
            <a:r>
              <a:rPr lang="en-US" dirty="0"/>
              <a:t>, </a:t>
            </a:r>
            <a:r>
              <a:rPr lang="en-US" dirty="0" err="1"/>
              <a:t>chunki</a:t>
            </a:r>
            <a:r>
              <a:rPr lang="en-US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DepartmentName</a:t>
            </a:r>
            <a:r>
              <a:rPr lang="en-US" dirty="0"/>
              <a:t> </a:t>
            </a:r>
            <a:r>
              <a:rPr lang="en-US" dirty="0" err="1"/>
              <a:t>DepartmentID</a:t>
            </a:r>
            <a:r>
              <a:rPr lang="en-US" dirty="0"/>
              <a:t> ga </a:t>
            </a:r>
            <a:r>
              <a:rPr lang="en-US" dirty="0" err="1"/>
              <a:t>bog’liq</a:t>
            </a:r>
            <a:r>
              <a:rPr lang="en-US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DepartmentID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StudnetID</a:t>
            </a:r>
            <a:r>
              <a:rPr lang="en-US" dirty="0"/>
              <a:t> ga </a:t>
            </a:r>
            <a:r>
              <a:rPr lang="en-US" dirty="0" err="1"/>
              <a:t>bog’liq</a:t>
            </a:r>
            <a:r>
              <a:rPr lang="en-US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AE07C3-D3D7-4089-8F84-953D5F04350F}"/>
              </a:ext>
            </a:extLst>
          </p:cNvPr>
          <p:cNvSpPr txBox="1"/>
          <p:nvPr/>
        </p:nvSpPr>
        <p:spPr>
          <a:xfrm>
            <a:off x="485304" y="6091571"/>
            <a:ext cx="8468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Ya’ni</a:t>
            </a:r>
            <a:r>
              <a:rPr lang="en-US" dirty="0"/>
              <a:t>, </a:t>
            </a:r>
            <a:r>
              <a:rPr lang="en-US" b="1" dirty="0" err="1"/>
              <a:t>StudnetID</a:t>
            </a:r>
            <a:r>
              <a:rPr lang="en-US" b="1" dirty="0"/>
              <a:t> → </a:t>
            </a:r>
            <a:r>
              <a:rPr lang="en-US" b="1" dirty="0" err="1"/>
              <a:t>DepartmentID</a:t>
            </a:r>
            <a:r>
              <a:rPr lang="en-US" b="1" dirty="0"/>
              <a:t> → </a:t>
            </a:r>
            <a:r>
              <a:rPr lang="en-US" b="1" dirty="0" err="1"/>
              <a:t>DepartmentName</a:t>
            </a:r>
            <a:r>
              <a:rPr lang="en-US" dirty="0"/>
              <a:t> (transitive dependency </a:t>
            </a:r>
            <a:r>
              <a:rPr lang="en-US" dirty="0" err="1"/>
              <a:t>mavjud</a:t>
            </a:r>
            <a:r>
              <a:rPr lang="en-US" dirty="0"/>
              <a:t>).</a:t>
            </a:r>
          </a:p>
        </p:txBody>
      </p:sp>
      <p:pic>
        <p:nvPicPr>
          <p:cNvPr id="16" name="Picture 2" descr="PDP University - YouTube">
            <a:extLst>
              <a:ext uri="{FF2B5EF4-FFF2-40B4-BE49-F238E27FC236}">
                <a16:creationId xmlns:a16="http://schemas.microsoft.com/office/drawing/2014/main" id="{C5A0E811-8581-4345-96DD-9BD6B5157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55071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6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618518"/>
            <a:ext cx="7305675" cy="1596177"/>
          </a:xfrm>
        </p:spPr>
        <p:txBody>
          <a:bodyPr/>
          <a:lstStyle/>
          <a:p>
            <a:r>
              <a:rPr lang="en-US" cap="none" dirty="0" err="1"/>
              <a:t>To‘g‘rilaymiz</a:t>
            </a:r>
            <a:r>
              <a:rPr lang="en-US" cap="none" dirty="0"/>
              <a:t> (3NF ga </a:t>
            </a:r>
            <a:r>
              <a:rPr lang="en-US" cap="none" dirty="0" err="1"/>
              <a:t>o‘tkazamiz</a:t>
            </a:r>
            <a:r>
              <a:rPr lang="en-US" cap="none" dirty="0"/>
              <a:t>):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78CBF5-D19A-4CDE-A9E3-68F863951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894632"/>
              </p:ext>
            </p:extLst>
          </p:nvPr>
        </p:nvGraphicFramePr>
        <p:xfrm>
          <a:off x="971550" y="2331720"/>
          <a:ext cx="7772400" cy="10972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738423766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13729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98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207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Laylo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2801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8381B6-FE09-49EF-9F8C-449ED45659CE}"/>
              </a:ext>
            </a:extLst>
          </p:cNvPr>
          <p:cNvSpPr txBox="1"/>
          <p:nvPr/>
        </p:nvSpPr>
        <p:spPr>
          <a:xfrm>
            <a:off x="866775" y="19566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</a:t>
            </a:r>
            <a:r>
              <a:rPr lang="en-US" dirty="0"/>
              <a:t> </a:t>
            </a:r>
            <a:r>
              <a:rPr lang="en-US" b="1" dirty="0"/>
              <a:t>Students</a:t>
            </a:r>
            <a:r>
              <a:rPr lang="en-US" dirty="0"/>
              <a:t> </a:t>
            </a:r>
            <a:r>
              <a:rPr lang="en-US" dirty="0" err="1"/>
              <a:t>jadvali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BD057-96A6-4FC3-872C-BB95DFDBEA94}"/>
              </a:ext>
            </a:extLst>
          </p:cNvPr>
          <p:cNvSpPr txBox="1"/>
          <p:nvPr/>
        </p:nvSpPr>
        <p:spPr>
          <a:xfrm>
            <a:off x="866775" y="36640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/>
              <a:t>Departments</a:t>
            </a:r>
            <a:r>
              <a:rPr lang="en-US" dirty="0"/>
              <a:t> </a:t>
            </a:r>
            <a:r>
              <a:rPr lang="en-US" dirty="0" err="1"/>
              <a:t>jadvali</a:t>
            </a:r>
            <a:r>
              <a:rPr lang="en-US" dirty="0"/>
              <a:t>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CCDD12-8513-4A91-81E4-4CBA287C3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28799"/>
              </p:ext>
            </p:extLst>
          </p:nvPr>
        </p:nvGraphicFramePr>
        <p:xfrm>
          <a:off x="971550" y="4033386"/>
          <a:ext cx="7772400" cy="10972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53016443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420230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DepartmentID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DepartmentName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Computer Sci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10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3009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A29BD21-F970-474B-95F2-BCD06C0A0837}"/>
              </a:ext>
            </a:extLst>
          </p:cNvPr>
          <p:cNvSpPr txBox="1"/>
          <p:nvPr/>
        </p:nvSpPr>
        <p:spPr>
          <a:xfrm>
            <a:off x="866775" y="5499998"/>
            <a:ext cx="7553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b="1" dirty="0"/>
              <a:t>transitive dependency</a:t>
            </a:r>
            <a:r>
              <a:rPr lang="en-US" dirty="0"/>
              <a:t> </a:t>
            </a:r>
            <a:r>
              <a:rPr lang="en-US" dirty="0" err="1"/>
              <a:t>yo‘q</a:t>
            </a:r>
            <a:r>
              <a:rPr lang="en-US" dirty="0"/>
              <a:t> →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b="1" dirty="0"/>
              <a:t>3NF</a:t>
            </a:r>
            <a:r>
              <a:rPr lang="en-US" dirty="0"/>
              <a:t>.</a:t>
            </a:r>
          </a:p>
        </p:txBody>
      </p:sp>
      <p:pic>
        <p:nvPicPr>
          <p:cNvPr id="10" name="Picture 2" descr="PDP University - YouTube">
            <a:extLst>
              <a:ext uri="{FF2B5EF4-FFF2-40B4-BE49-F238E27FC236}">
                <a16:creationId xmlns:a16="http://schemas.microsoft.com/office/drawing/2014/main" id="{00A02600-2428-4938-BA4E-9429C87CD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-3810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43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 </a:t>
            </a:r>
            <a:r>
              <a:rPr lang="en-US" cap="none" dirty="0" err="1"/>
              <a:t>Xulosa</a:t>
            </a:r>
            <a:r>
              <a:rPr lang="en-US" cap="none" dirty="0"/>
              <a:t> (</a:t>
            </a:r>
            <a:r>
              <a:rPr lang="en-US" cap="none" dirty="0" err="1"/>
              <a:t>qisqacha</a:t>
            </a:r>
            <a:r>
              <a:rPr lang="en-US" cap="none" dirty="0"/>
              <a:t> </a:t>
            </a:r>
            <a:r>
              <a:rPr lang="en-US" cap="none" dirty="0" err="1"/>
              <a:t>jadvalda</a:t>
            </a:r>
            <a:r>
              <a:rPr lang="en-US" cap="none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77760B-5FF8-4846-A1AE-497FCB9F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0876"/>
              </p:ext>
            </p:extLst>
          </p:nvPr>
        </p:nvGraphicFramePr>
        <p:xfrm>
          <a:off x="780112" y="2214695"/>
          <a:ext cx="7772400" cy="294049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19008729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99483495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183590551"/>
                    </a:ext>
                  </a:extLst>
                </a:gridCol>
              </a:tblGrid>
              <a:tr h="534636">
                <a:tc>
                  <a:txBody>
                    <a:bodyPr/>
                    <a:lstStyle/>
                    <a:p>
                      <a:r>
                        <a:rPr lang="en-US" dirty="0"/>
                        <a:t>Forma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Asosiy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maqsad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Yechadigan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muammo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13214"/>
                  </a:ext>
                </a:extLst>
              </a:tr>
              <a:tr h="935613">
                <a:tc>
                  <a:txBody>
                    <a:bodyPr/>
                    <a:lstStyle/>
                    <a:p>
                      <a:r>
                        <a:rPr lang="en-US" b="1" dirty="0"/>
                        <a:t>1NF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 </a:t>
                      </a:r>
                      <a:r>
                        <a:rPr lang="en-US" dirty="0" err="1"/>
                        <a:t>katakda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faqat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bitta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qiymat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Takrorlanayotgan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ustunlar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189520"/>
                  </a:ext>
                </a:extLst>
              </a:tr>
              <a:tr h="534636">
                <a:tc>
                  <a:txBody>
                    <a:bodyPr/>
                    <a:lstStyle/>
                    <a:p>
                      <a:r>
                        <a:rPr lang="en-US" b="1"/>
                        <a:t>2NF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/>
                        <a:t>Kalitga to‘liq bog‘lanish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Qisman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bog‘liqlik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1012562"/>
                  </a:ext>
                </a:extLst>
              </a:tr>
              <a:tr h="935613">
                <a:tc>
                  <a:txBody>
                    <a:bodyPr/>
                    <a:lstStyle/>
                    <a:p>
                      <a:r>
                        <a:rPr lang="en-US" b="1"/>
                        <a:t>3NF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Transitiv bog‘liqlikni yo‘qotish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Bir-</a:t>
                      </a:r>
                      <a:r>
                        <a:rPr lang="en-US" dirty="0" err="1"/>
                        <a:t>biriga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bog‘liq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ustunlar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769077"/>
                  </a:ext>
                </a:extLst>
              </a:tr>
            </a:tbl>
          </a:graphicData>
        </a:graphic>
      </p:graphicFrame>
      <p:pic>
        <p:nvPicPr>
          <p:cNvPr id="7" name="Picture 2" descr="PDP University - YouTube">
            <a:extLst>
              <a:ext uri="{FF2B5EF4-FFF2-40B4-BE49-F238E27FC236}">
                <a16:creationId xmlns:a16="http://schemas.microsoft.com/office/drawing/2014/main" id="{FE9C5FA5-37A7-47CD-9628-1160BC242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" y="0"/>
            <a:ext cx="1075857" cy="100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111</TotalTime>
  <Words>551</Words>
  <Application>Microsoft Office PowerPoint</Application>
  <PresentationFormat>On-screen Show (4:3)</PresentationFormat>
  <Paragraphs>126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Tw Cen MT</vt:lpstr>
      <vt:lpstr>Droplet</vt:lpstr>
      <vt:lpstr>Database Normalization (1NF, 2NF, 3NF)</vt:lpstr>
      <vt:lpstr>1NF (first normal form) – birinchi normal forma</vt:lpstr>
      <vt:lpstr>To‘g‘rilaymiz (1NF holatiga keltiramiz):</vt:lpstr>
      <vt:lpstr>2NF (second normal form) – ikkinchi normal forma</vt:lpstr>
      <vt:lpstr>To‘g‘rilaymiz (2NF ga bo‘lamiz):</vt:lpstr>
      <vt:lpstr>3NF (third normal form) – uchinchi normal forma</vt:lpstr>
      <vt:lpstr>To‘g‘rilaymiz (3NF ga o‘tkazamiz):</vt:lpstr>
      <vt:lpstr> Xulosa (qisqacha jadvalda)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Normalization (1NF, 2NF, 3NF)</dc:title>
  <dc:subject/>
  <dc:creator/>
  <cp:keywords/>
  <dc:description>generated using python-pptx</dc:description>
  <cp:lastModifiedBy>raximovatam999@gmail.com</cp:lastModifiedBy>
  <cp:revision>10</cp:revision>
  <dcterms:created xsi:type="dcterms:W3CDTF">2013-01-27T09:14:16Z</dcterms:created>
  <dcterms:modified xsi:type="dcterms:W3CDTF">2025-10-14T05:46:37Z</dcterms:modified>
  <cp:category/>
</cp:coreProperties>
</file>